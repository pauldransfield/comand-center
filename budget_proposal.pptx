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Costs</c:v>
                </c:pt>
              </c:strCache>
            </c:strRef>
          </c:tx>
          <c:dPt>
            <c:idx val="0"/>
            <c:spPr>
              <a:solidFill>
                <a:srgbClr val="CADCFC"/>
              </a:solidFill>
            </c:spPr>
          </c:dPt>
          <c:dPt>
            <c:idx val="1"/>
            <c:spPr>
              <a:solidFill>
                <a:srgbClr val="4A7FC1"/>
              </a:solidFill>
            </c:spPr>
          </c:dPt>
          <c:dPt>
            <c:idx val="2"/>
            <c:spPr>
              <a:solidFill>
                <a:srgbClr val="FFC040"/>
              </a:solidFill>
            </c:spPr>
          </c:dPt>
          <c:dPt>
            <c:idx val="3"/>
            <c:spPr>
              <a:solidFill>
                <a:srgbClr val="8AA8D0"/>
              </a:solidFill>
            </c:spPr>
          </c:dPt>
          <c:cat>
            <c:strRef>
              <c:f>Sheet1!$A$2:$A$5</c:f>
              <c:strCache>
                <c:ptCount val="4"/>
                <c:pt idx="0">
                  <c:v>Personal</c:v>
                </c:pt>
                <c:pt idx="1">
                  <c:v>Råvaror &amp; Dryck</c:v>
                </c:pt>
                <c:pt idx="2">
                  <c:v>Lokal</c:v>
                </c:pt>
                <c:pt idx="3">
                  <c:v>Övrigt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224978</c:v>
                </c:pt>
                <c:pt idx="1">
                  <c:v>149300</c:v>
                </c:pt>
                <c:pt idx="2">
                  <c:v>64500</c:v>
                </c:pt>
                <c:pt idx="3">
                  <c:v>28422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Lön + arb.avg (kr)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cat>
            <c:strRef>
              <c:f>Sheet1!$A$2:$A$5</c:f>
              <c:strCache>
                <c:ptCount val="4"/>
                <c:pt idx="0">
                  <c:v>Kök</c:v>
                </c:pt>
                <c:pt idx="1">
                  <c:v>Servering</c:v>
                </c:pt>
                <c:pt idx="2">
                  <c:v>Disk</c:v>
                </c:pt>
                <c:pt idx="3">
                  <c:v>Övertid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130000</c:v>
                </c:pt>
                <c:pt idx="1">
                  <c:v>58000</c:v>
                </c:pt>
                <c:pt idx="2">
                  <c:v>13000</c:v>
                </c:pt>
                <c:pt idx="3">
                  <c:v>23978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(kr)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12100</c:v>
                </c:pt>
                <c:pt idx="1">
                  <c:v>38700</c:v>
                </c:pt>
                <c:pt idx="2">
                  <c:v>38700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(kr/10)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38920</c:v>
                </c:pt>
                <c:pt idx="1">
                  <c:v>46180</c:v>
                </c:pt>
                <c:pt idx="2">
                  <c:v>50590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Budget Proposal.</a:t>
            </a:r>
          </a:p>
          <a:p/>
          <a:p>
            <a:r>
              <a:t>Welcome attendees. State the purpose: review Mars 2026 performance and agree on Q2 actions. Expected duration: 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points:</a:t>
            </a:r>
          </a:p>
          <a:p>
            <a:r>
              <a:t>• Revenue growth is strong but costs are outpacing it</a:t>
            </a:r>
          </a:p>
          <a:p>
            <a:r>
              <a:t>• Staff cost overrun is the single biggest issue — driven by sick leave and overtime</a:t>
            </a:r>
          </a:p>
          <a:p>
            <a:r>
              <a:t>• Menigo price increase adds approximately 15 000 kr/month to food costs</a:t>
            </a:r>
          </a:p>
          <a:p>
            <a:r>
              <a:t>• Action needed: renegotiate Menigo, review staffing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analysis:</a:t>
            </a:r>
          </a:p>
          <a:p>
            <a:r>
              <a:t>• Staff 61.5% — well above 40% target. Root cause: sick leave weeks 11-12 required 42 000 kr extra overtime</a:t>
            </a:r>
          </a:p>
          <a:p>
            <a:r>
              <a:t>• Food/Bev 29.5% — within target. Menigo +8% partially offset by menu repricing</a:t>
            </a:r>
          </a:p>
          <a:p>
            <a:r>
              <a:t>• Rent fixed at 52 000 kr/month. Total including utilities 64 500 kr (12.7%)</a:t>
            </a:r>
          </a:p>
          <a:p>
            <a:r>
              <a:t>• Action: Board to approve staffing schedule review and Menigo renegotiation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Staff cost drivers:</a:t>
            </a:r>
          </a:p>
          <a:p>
            <a:r>
              <a:t>• Kitchen (köksmästare + 3 kockar): 173 143 kr</a:t>
            </a:r>
          </a:p>
          <a:p>
            <a:r>
              <a:t>• Service (4 servitriser + 2 timanställda): 87 181 kr</a:t>
            </a:r>
          </a:p>
          <a:p>
            <a:r>
              <a:t>• Dishwashers: 24 881 kr</a:t>
            </a:r>
          </a:p>
          <a:p>
            <a:r>
              <a:t>• Overtime (sick leave cover): 42 000 kr EXCESS — this is the primary problem</a:t>
            </a:r>
          </a:p>
          <a:p/>
          <a:p>
            <a:r>
              <a:t>Board decision needed: Approve recruitment of permanent kock (target start Q3).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 analysis:</a:t>
            </a:r>
          </a:p>
          <a:p>
            <a:r>
              <a:t>• Jan was below budget (slow start to year)</a:t>
            </a:r>
          </a:p>
          <a:p>
            <a:r>
              <a:t>• Feb and March recovered strongly</a:t>
            </a:r>
          </a:p>
          <a:p>
            <a:r>
              <a:t>• Q1 total revenue 1 356 900 kr vs budget 1 350 000 kr — slightly ahead</a:t>
            </a:r>
          </a:p>
          <a:p>
            <a:r>
              <a:t>• Profitability hampered by cost escalation; Q2 focus must be cost discipline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decisions required:</a:t>
            </a:r>
          </a:p>
          <a:p>
            <a:r>
              <a:t>1. Approve Menigo renegotiation mandate (owner to lead)</a:t>
            </a:r>
          </a:p>
          <a:p>
            <a:r>
              <a:t>2. Approve permanent kock recruitment budget</a:t>
            </a:r>
          </a:p>
          <a:p>
            <a:r>
              <a:t>3. Note Q2 budget revision (CFO/owner to update)</a:t>
            </a:r>
          </a:p>
          <a:p>
            <a:r>
              <a:t>4. Acknowledge cash flow monitoring requirement</a:t>
            </a:r>
          </a:p>
          <a:p/>
          <a:p>
            <a:r>
              <a:t>All HIGH items require owner action within 2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meeting by confirming:</a:t>
            </a:r>
          </a:p>
          <a:p>
            <a:r>
              <a:t>• Owner to schedule Menigo meeting this week</a:t>
            </a:r>
          </a:p>
          <a:p>
            <a:r>
              <a:t>• Next monthly review: first week of May</a:t>
            </a:r>
          </a:p>
          <a:p>
            <a:r>
              <a:t>• Interim check-in on staffing: April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for questions.</a:t>
            </a:r>
          </a:p>
          <a:p/>
          <a:p>
            <a:r>
              <a:t>Key reminders for follow-up:</a:t>
            </a:r>
          </a:p>
          <a:p>
            <a:r>
              <a:t>• Send action list to all attendees within 24 hours</a:t>
            </a:r>
          </a:p>
          <a:p>
            <a:r>
              <a:t>• Next meeting: first week of May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40"/>
                </a:solidFill>
                <a:latin typeface="Calibri"/>
              </a:rPr>
              <a:t>BUDGET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Budget Proposal — 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Cost Revisions &amp; Forward Projections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8"/>
                </a:solidFill>
                <a:latin typeface="Calibri"/>
              </a:rPr>
              <a:t>Restaurang Björken AB  · 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ADCFC"/>
                </a:solidFill>
                <a:latin typeface="Calibri"/>
              </a:rPr>
              <a:t>Mars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100584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505 900 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1005840"/>
            <a:ext cx="54864" cy="1005840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467 200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Total Costs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005840"/>
            <a:ext cx="54864" cy="1005840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38 700 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Net Profit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005840"/>
            <a:ext cx="54864" cy="1005840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7.65%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94560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7627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Revenue 505 900 kr — up 9.5% vs February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24912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06624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Staff costs at 44.5% of revenue — above 40% target; high sick leave in weeks 11–12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55263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3697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Food &amp; Bev costs 29.5% — Menigo price increase +8% from March 1st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85615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67327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Net profit 38 700 kr at 7.7% margin — pressured by cost increases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15968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97679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Q1 2026 revenue forecast exceeds budget by +6 900 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Cost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914400"/>
          <a:ext cx="47548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4960" y="960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8"/>
                </a:solidFill>
                <a:latin typeface="Calibri"/>
              </a:rPr>
              <a:t>vs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371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44.5%  (target 40.0%)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719072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719072"/>
            <a:ext cx="2267058" cy="164592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49885" y="1664208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9202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224 978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258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Råvaror &amp; dryck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29.5%  (target 31.0%)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606039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2606039"/>
            <a:ext cx="1502881" cy="16459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91379" y="2551175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8072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149 300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45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Lokal &amp; fastighet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455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12.7%  (target 13.0%)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493008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3493008"/>
            <a:ext cx="647003" cy="164592"/>
          </a:xfrm>
          <a:prstGeom prst="rect">
            <a:avLst/>
          </a:prstGeom>
          <a:solidFill>
            <a:srgbClr val="4A7FC1"/>
          </a:solidFill>
          <a:ln>
            <a:solidFill>
              <a:srgbClr val="4A7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4366" y="3438144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6941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64 500 kr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325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Övrigt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32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5.6%  (target 6.0%)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4379976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4379976"/>
            <a:ext cx="285292" cy="164592"/>
          </a:xfrm>
          <a:prstGeom prst="rect">
            <a:avLst/>
          </a:prstGeom>
          <a:solidFill>
            <a:srgbClr val="8AA8D0"/>
          </a:solidFill>
          <a:ln>
            <a:solidFill>
              <a:srgbClr val="8AA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17750" y="4325112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45811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28 422 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Staff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C040"/>
                </a:solidFill>
                <a:latin typeface="Calibri"/>
              </a:rPr>
              <a:t>⚠  Requires action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05840"/>
          <a:ext cx="5029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440680" y="1005840"/>
            <a:ext cx="3474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40680" y="1005840"/>
            <a:ext cx="73152" cy="1234440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4B4A"/>
                </a:solidFill>
                <a:latin typeface="Calibri"/>
              </a:rPr>
              <a:t>IMMEDIATE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17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Review week 11–12 overtime billing.
Verify sick leave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377440"/>
            <a:ext cx="3474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40680" y="2377440"/>
            <a:ext cx="73152" cy="1234440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40"/>
                </a:solidFill>
                <a:latin typeface="Calibri"/>
              </a:rPr>
              <a:t>THIS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788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Rebuild staffing schedule to reduce overtime dependency.
Target: 40% of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3749039"/>
            <a:ext cx="3474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40680" y="3749039"/>
            <a:ext cx="73152" cy="12344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3840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41605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Recruit permanent kock to reduce reliance on temp staff.
Project savings: ~28 000 kr/month.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Profit Trend &amp; Q1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05840"/>
          <a:ext cx="53035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1005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Q1 Actuals vs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691640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1691640"/>
            <a:ext cx="45720" cy="685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7647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Q1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6479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1 356 900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647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1 350 000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7647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+0.5%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487168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487168"/>
            <a:ext cx="45720" cy="685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2560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Q1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5603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1 157 400 kr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60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5603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4B4A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282696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3282696"/>
            <a:ext cx="45720" cy="685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3355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Q1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5584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199 500 kr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3558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94 500 kr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5584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+111%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078224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4078224"/>
            <a:ext cx="45720" cy="685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1513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Avg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513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14.7%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15137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7.0%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15137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+7.7pp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Recommendations &amp;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777240" cy="292608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24128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9692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Renegotiate Menigo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950976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March +8% price increase adds ~15 000 kr/month. Request Q2 price freeze or trial Martin &amp; Servera for 30% of volume. Potential saving: 5 000–8 000 kr/month.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65376"/>
            <a:ext cx="777240" cy="292608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65376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8105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Staffing schedule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92224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Overtime at 42 000 kr caused by sick-leave cover. Implement cross-training and on-call pool. Target: staff costs ≤40% of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777240" cy="292608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06624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Q2 budget 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3347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Current Q2 budget assumes old cost levels. Revise food cost budget +8% and staff budget +5% based on March actuals.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01568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47872"/>
            <a:ext cx="777240" cy="292608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547872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493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Cash flow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7472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Bank statement shows negative intra-month balance around payroll (25th). Maintain ≥150 000 kr minimum working capital.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42816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777240" cy="292608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389120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33425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POS data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315968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Ancon POS Fortnox sync shows 3 uncategorised transactions. Clean up before Q2 to improve reporting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08176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408176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0817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Contact Menigo for pricing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08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92807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020824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020824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02082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Pull overtime data — weeks 11–12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208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Köksmästare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05456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633472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633472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6334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Rebuild staffing schedule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6334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Owner + Köksmästare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18104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46120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24612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2461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Revise Q2 budget figures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246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30752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858768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3858768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Month 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85876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Verify Ancon–Fortnox sync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858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4471416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4471416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4714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Launch permanent kock recruitment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471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Owner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8"/>
                </a:solidFill>
                <a:latin typeface="Calibri"/>
              </a:rPr>
              <a:t>Restaurang Björken AB  ·  Mars 2026  ·  Konfidentiellt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