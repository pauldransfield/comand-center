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(kr)</c:v>
                </c:pt>
              </c:strCache>
            </c:strRef>
          </c:tx>
          <c:spPr>
            <a:solidFill>
              <a:srgbClr val="2C5F2D"/>
            </a:solidFill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389200</c:v>
                </c:pt>
                <c:pt idx="1">
                  <c:v>461800</c:v>
                </c:pt>
                <c:pt idx="2">
                  <c:v>505900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(kr)</c:v>
                </c:pt>
              </c:strCache>
            </c:strRef>
          </c:tx>
          <c:spPr>
            <a:solidFill>
              <a:srgbClr val="97BC62"/>
            </a:solidFill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380000</c:v>
                </c:pt>
                <c:pt idx="1">
                  <c:v>460000</c:v>
                </c:pt>
                <c:pt idx="2">
                  <c:v>490000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Costs</c:v>
                </c:pt>
              </c:strCache>
            </c:strRef>
          </c:tx>
          <c:dPt>
            <c:idx val="0"/>
            <c:spPr>
              <a:solidFill>
                <a:srgbClr val="97BC62"/>
              </a:solidFill>
            </c:spPr>
          </c:dPt>
          <c:dPt>
            <c:idx val="1"/>
            <c:spPr>
              <a:solidFill>
                <a:srgbClr val="4A7FC1"/>
              </a:solidFill>
            </c:spPr>
          </c:dPt>
          <c:dPt>
            <c:idx val="2"/>
            <c:spPr>
              <a:solidFill>
                <a:srgbClr val="FFC040"/>
              </a:solidFill>
            </c:spPr>
          </c:dPt>
          <c:dPt>
            <c:idx val="3"/>
            <c:spPr>
              <a:solidFill>
                <a:srgbClr val="8AA8D0"/>
              </a:solidFill>
            </c:spPr>
          </c:dPt>
          <c:cat>
            <c:strRef>
              <c:f>Sheet1!$A$2:$A$5</c:f>
              <c:strCache>
                <c:ptCount val="4"/>
                <c:pt idx="0">
                  <c:v>Personal</c:v>
                </c:pt>
                <c:pt idx="1">
                  <c:v>Råvaror &amp; Dryck</c:v>
                </c:pt>
                <c:pt idx="2">
                  <c:v>Lokal</c:v>
                </c:pt>
                <c:pt idx="3">
                  <c:v>Övrigt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224978</c:v>
                </c:pt>
                <c:pt idx="1">
                  <c:v>149300</c:v>
                </c:pt>
                <c:pt idx="2">
                  <c:v>64500</c:v>
                </c:pt>
                <c:pt idx="3">
                  <c:v>28422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(kr)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12100</c:v>
                </c:pt>
                <c:pt idx="1">
                  <c:v>38700</c:v>
                </c:pt>
                <c:pt idx="2">
                  <c:v>38700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(kr/10)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38920</c:v>
                </c:pt>
                <c:pt idx="1">
                  <c:v>46180</c:v>
                </c:pt>
                <c:pt idx="2">
                  <c:v>50590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Investor Pitch.</a:t>
            </a:r>
          </a:p>
          <a:p/>
          <a:p>
            <a:r>
              <a:t>Welcome attendees. State the purpose: review Mars 2026 performance and agree on Q2 actions. Expected duration: 45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points:</a:t>
            </a:r>
          </a:p>
          <a:p>
            <a:r>
              <a:t>• Revenue growth is strong but costs are outpacing it</a:t>
            </a:r>
          </a:p>
          <a:p>
            <a:r>
              <a:t>• Staff cost overrun is the single biggest issue — driven by sick leave and overtime</a:t>
            </a:r>
          </a:p>
          <a:p>
            <a:r>
              <a:t>• Menigo price increase adds approximately 15 000 kr/month to food costs</a:t>
            </a:r>
          </a:p>
          <a:p>
            <a:r>
              <a:t>• Action needed: renegotiate Menigo, review staffing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composition:</a:t>
            </a:r>
          </a:p>
          <a:p>
            <a:r>
              <a:t>• Food sales: 312 500 kr (62%) — driven by higher covers</a:t>
            </a:r>
          </a:p>
          <a:p>
            <a:r>
              <a:t>• Beverage: 175 000 kr (35%) — champagne sales strong</a:t>
            </a:r>
          </a:p>
          <a:p>
            <a:r>
              <a:t>• Catering event: 18 400 kr (3.6%) — one corporate event</a:t>
            </a:r>
          </a:p>
          <a:p/>
          <a:p>
            <a:r>
              <a:t>Revenue vs budget: +3.2% over March budget of 490 000 kr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analysis:</a:t>
            </a:r>
          </a:p>
          <a:p>
            <a:r>
              <a:t>• Staff 61.5% — well above 40% target. Root cause: sick leave weeks 11-12 required 42 000 kr extra overtime</a:t>
            </a:r>
          </a:p>
          <a:p>
            <a:r>
              <a:t>• Food/Bev 29.5% — within target. Menigo +8% partially offset by menu repricing</a:t>
            </a:r>
          </a:p>
          <a:p>
            <a:r>
              <a:t>• Rent fixed at 52 000 kr/month. Total including utilities 64 500 kr (12.7%)</a:t>
            </a:r>
          </a:p>
          <a:p>
            <a:r>
              <a:t>• Action: Board to approve staffing schedule review and Menigo renegotiation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P&amp;L highlights:</a:t>
            </a:r>
          </a:p>
          <a:p>
            <a:r>
              <a:t>• Top-line growth of 9.6% is excellent</a:t>
            </a:r>
          </a:p>
          <a:p>
            <a:r>
              <a:t>• Cost ratio at 92.3% vs 91.6% in February — margin compressed</a:t>
            </a:r>
          </a:p>
          <a:p>
            <a:r>
              <a:t>• EBIT of 38 700 kr held flat vs February despite higher revenue — all upside eaten by costs</a:t>
            </a:r>
          </a:p>
          <a:p>
            <a:r>
              <a:t>• Key action: Return cost ratio to below 90% in Q2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Trend analysis:</a:t>
            </a:r>
          </a:p>
          <a:p>
            <a:r>
              <a:t>• Jan was below budget (slow start to year)</a:t>
            </a:r>
          </a:p>
          <a:p>
            <a:r>
              <a:t>• Feb and March recovered strongly</a:t>
            </a:r>
          </a:p>
          <a:p>
            <a:r>
              <a:t>• Q1 total revenue 1 356 900 kr vs budget 1 350 000 kr — slightly ahead</a:t>
            </a:r>
          </a:p>
          <a:p>
            <a:r>
              <a:t>• Profitability hampered by cost escalation; Q2 focus must be cost discipline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decisions required:</a:t>
            </a:r>
          </a:p>
          <a:p>
            <a:r>
              <a:t>1. Approve Menigo renegotiation mandate (owner to lead)</a:t>
            </a:r>
          </a:p>
          <a:p>
            <a:r>
              <a:t>2. Approve permanent kock recruitment budget</a:t>
            </a:r>
          </a:p>
          <a:p>
            <a:r>
              <a:t>3. Note Q2 budget revision (CFO/owner to update)</a:t>
            </a:r>
          </a:p>
          <a:p>
            <a:r>
              <a:t>4. Acknowledge cash flow monitoring requirement</a:t>
            </a:r>
          </a:p>
          <a:p/>
          <a:p>
            <a:r>
              <a:t>All HIGH items require owner action within 2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for questions.</a:t>
            </a:r>
          </a:p>
          <a:p/>
          <a:p>
            <a:r>
              <a:t>Key reminders for follow-up:</a:t>
            </a:r>
          </a:p>
          <a:p>
            <a:r>
              <a:t>• Send action list to all attendees within 24 hours</a:t>
            </a:r>
          </a:p>
          <a:p>
            <a:r>
              <a:t>• Next meeting: first week of May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7BC62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alibri"/>
              </a:rPr>
              <a:t>INVESTOR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Investor Update —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7BC62"/>
                </a:solidFill>
                <a:latin typeface="Calibri"/>
              </a:rPr>
              <a:t>Business Performance &amp; Growth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A85A"/>
                </a:solidFill>
                <a:latin typeface="Calibri"/>
              </a:rPr>
              <a:t>Restaurang Björken AB  · 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7BC62"/>
                </a:solidFill>
                <a:latin typeface="Calibri"/>
              </a:rPr>
              <a:t>Mars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4864" cy="1005840"/>
          </a:xfrm>
          <a:prstGeom prst="rect">
            <a:avLst/>
          </a:prstGeom>
          <a:solidFill>
            <a:srgbClr val="97BC62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Calibri"/>
              </a:rPr>
              <a:t>505 900 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1005840"/>
            <a:ext cx="54864" cy="1005840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Calibri"/>
              </a:rPr>
              <a:t>467 200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Total Costs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005840"/>
            <a:ext cx="54864" cy="1005840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Calibri"/>
              </a:rPr>
              <a:t>38 700 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Net Profit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100584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1005840"/>
            <a:ext cx="54864" cy="1005840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060704"/>
            <a:ext cx="1828800" cy="553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C5F2D"/>
                </a:solidFill>
                <a:latin typeface="Calibri"/>
              </a:rPr>
              <a:t>7.65%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589227"/>
            <a:ext cx="1828800" cy="382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Margin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194560"/>
            <a:ext cx="54864" cy="310896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76272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Revenue 505 900 kr — up 9.5% vs February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24912"/>
            <a:ext cx="54864" cy="310896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706624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Staff costs at 44.5% of revenue — above 40% target; high sick leave in weeks 11–12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55263"/>
            <a:ext cx="54864" cy="310896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36976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Food &amp; Bev costs 29.5% — Menigo price increase +8% from March 1st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85615"/>
            <a:ext cx="54864" cy="310896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67327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Net profit 38 700 kr at 7.7% margin — pressured by cost increases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315968"/>
            <a:ext cx="54864" cy="310896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297679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A2A2A"/>
                </a:solidFill>
                <a:latin typeface="Calibri"/>
              </a:rPr>
              <a:t>Q1 2026 revenue forecast exceeds budget by +6 900 kr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Revenue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05840"/>
          <a:ext cx="53035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0058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Revenue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508760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508760"/>
            <a:ext cx="54864" cy="91440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581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9280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Calibri"/>
              </a:rPr>
              <a:t>61.8%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9280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AA85A"/>
                </a:solidFill>
                <a:latin typeface="Calibri"/>
              </a:rPr>
              <a:t>312 500 kr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87752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87752"/>
            <a:ext cx="54864" cy="91440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6609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Dryck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971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Calibri"/>
              </a:rPr>
              <a:t>34.6%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71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AA85A"/>
                </a:solidFill>
                <a:latin typeface="Calibri"/>
              </a:rPr>
              <a:t>175 000 kr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666744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666744"/>
            <a:ext cx="54864" cy="91440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7398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Catering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05079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C5F2D"/>
                </a:solidFill>
                <a:latin typeface="Calibri"/>
              </a:rPr>
              <a:t>3.6%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50791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AA85A"/>
                </a:solidFill>
                <a:latin typeface="Calibri"/>
              </a:rPr>
              <a:t>18 400 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Cost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914400"/>
          <a:ext cx="47548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94960" y="9601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A85A"/>
                </a:solidFill>
                <a:latin typeface="Calibri"/>
              </a:rPr>
              <a:t>vs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371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Calibri"/>
              </a:rPr>
              <a:t>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85A"/>
                </a:solidFill>
                <a:latin typeface="Calibri"/>
              </a:rPr>
              <a:t>44.5%  (target 40.0%)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719072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719072"/>
            <a:ext cx="2267058" cy="164592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49885" y="1664208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92024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224 978 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2585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Calibri"/>
              </a:rPr>
              <a:t>Råvaror &amp; dryck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258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85A"/>
                </a:solidFill>
                <a:latin typeface="Calibri"/>
              </a:rPr>
              <a:t>29.5%  (target 31.0%)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606039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2606039"/>
            <a:ext cx="1502881" cy="164592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91379" y="2551175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8072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149 300 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455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Calibri"/>
              </a:rPr>
              <a:t>Lokal &amp; fastighet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455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85A"/>
                </a:solidFill>
                <a:latin typeface="Calibri"/>
              </a:rPr>
              <a:t>12.7%  (target 13.0%)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3493008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3493008"/>
            <a:ext cx="647003" cy="164592"/>
          </a:xfrm>
          <a:prstGeom prst="rect">
            <a:avLst/>
          </a:prstGeom>
          <a:solidFill>
            <a:srgbClr val="4A7FC1"/>
          </a:solidFill>
          <a:ln>
            <a:solidFill>
              <a:srgbClr val="4A7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4366" y="3438144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369417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64 500 kr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325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Calibri"/>
              </a:rPr>
              <a:t>Övrigt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032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AA85A"/>
                </a:solidFill>
                <a:latin typeface="Calibri"/>
              </a:rPr>
              <a:t>5.6%  (target 6.0%)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4379976"/>
            <a:ext cx="3566160" cy="16459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4379976"/>
            <a:ext cx="285292" cy="164592"/>
          </a:xfrm>
          <a:prstGeom prst="rect">
            <a:avLst/>
          </a:prstGeom>
          <a:solidFill>
            <a:srgbClr val="8AA8D0"/>
          </a:solidFill>
          <a:ln>
            <a:solidFill>
              <a:srgbClr val="8AA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17750" y="4325112"/>
            <a:ext cx="36576" cy="274320"/>
          </a:xfrm>
          <a:prstGeom prst="rect">
            <a:avLst/>
          </a:prstGeom>
          <a:solidFill>
            <a:srgbClr val="606060"/>
          </a:solidFill>
          <a:ln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458114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28 422 kr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Profit &amp; Loss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8412480" cy="301751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50976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INTÄKTER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F2D"/>
                </a:solidFill>
                <a:latin typeface="Calibri"/>
              </a:rPr>
              <a:t>Matintäkter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312 500 kr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80160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61.8%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9344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F2D"/>
                </a:solidFill>
                <a:latin typeface="Calibri"/>
              </a:rPr>
              <a:t>Dryckesintäkter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09344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175 000 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609344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34.6%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38528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F2D"/>
                </a:solidFill>
                <a:latin typeface="Calibri"/>
              </a:rPr>
              <a:t>Cateringintäkter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38528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18 400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38528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3.6%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31136"/>
            <a:ext cx="8412480" cy="301751"/>
          </a:xfrm>
          <a:prstGeom prst="rect">
            <a:avLst/>
          </a:prstGeom>
          <a:solidFill>
            <a:srgbClr val="E6F1FB"/>
          </a:solidFill>
          <a:ln>
            <a:solidFill>
              <a:srgbClr val="E6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67712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Totala intäkter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267712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505 900 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267712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60320"/>
            <a:ext cx="8412480" cy="301751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596896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KOSTNADER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926080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F2D"/>
                </a:solidFill>
                <a:latin typeface="Calibri"/>
              </a:rPr>
              <a:t>Personalkostnader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926080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224 978 kr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926080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44.5%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55264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F2D"/>
                </a:solidFill>
                <a:latin typeface="Calibri"/>
              </a:rPr>
              <a:t>Råvaror &amp; dryck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255264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149 300 kr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255264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29.5%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584448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F2D"/>
                </a:solidFill>
                <a:latin typeface="Calibri"/>
              </a:rPr>
              <a:t>Lokal &amp; fastighet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584448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64 500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584448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12.7%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913632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5F2D"/>
                </a:solidFill>
                <a:latin typeface="Calibri"/>
              </a:rPr>
              <a:t>Övriga kostnader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913632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28 422 kr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913632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A3A"/>
                </a:solidFill>
                <a:latin typeface="Calibri"/>
              </a:rPr>
              <a:t>5.6%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06240"/>
            <a:ext cx="8412480" cy="301751"/>
          </a:xfrm>
          <a:prstGeom prst="rect">
            <a:avLst/>
          </a:prstGeom>
          <a:solidFill>
            <a:srgbClr val="FCEBEB"/>
          </a:solidFill>
          <a:ln>
            <a:solidFill>
              <a:srgbClr val="FC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242816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Totala kostnader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242816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467 200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242816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92.4%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535424"/>
            <a:ext cx="8412480" cy="301751"/>
          </a:xfrm>
          <a:prstGeom prst="rect">
            <a:avLst/>
          </a:prstGeom>
          <a:solidFill>
            <a:srgbClr val="EAF3DE"/>
          </a:solidFill>
          <a:ln>
            <a:solidFill>
              <a:srgbClr val="EA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572000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RÖRELSERESULTAT (EBIT)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572000"/>
            <a:ext cx="21945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38 700 kr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572000"/>
            <a:ext cx="16459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A3A"/>
                </a:solidFill>
                <a:latin typeface="Calibri"/>
              </a:rPr>
              <a:t>7.7%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Profit Trend &amp; Q1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05840"/>
          <a:ext cx="53035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720" y="1005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Q1 Actuals vs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A85A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A85A"/>
                </a:solidFill>
                <a:latin typeface="Calibri"/>
              </a:rPr>
              <a:t>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A85A"/>
                </a:solidFill>
                <a:latin typeface="Calibr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A85A"/>
                </a:solidFill>
                <a:latin typeface="Calibri"/>
              </a:rPr>
              <a:t>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691640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1691640"/>
            <a:ext cx="45720" cy="68580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7647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F2D"/>
                </a:solidFill>
                <a:latin typeface="Calibri"/>
              </a:rPr>
              <a:t>Q1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6479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F2D"/>
                </a:solidFill>
                <a:latin typeface="Calibri"/>
              </a:rPr>
              <a:t>1 356 900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6479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1 350 000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76479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+0.5%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487168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487168"/>
            <a:ext cx="45720" cy="68580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2560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F2D"/>
                </a:solidFill>
                <a:latin typeface="Calibri"/>
              </a:rPr>
              <a:t>Q1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5603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F2D"/>
                </a:solidFill>
                <a:latin typeface="Calibri"/>
              </a:rPr>
              <a:t>1 157 400 kr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560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5603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4B4A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3282696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3282696"/>
            <a:ext cx="45720" cy="68580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33558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F2D"/>
                </a:solidFill>
                <a:latin typeface="Calibri"/>
              </a:rPr>
              <a:t>Q1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5584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F2D"/>
                </a:solidFill>
                <a:latin typeface="Calibri"/>
              </a:rPr>
              <a:t>199 500 kr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35584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94 500 kr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355848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+111%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4078224"/>
            <a:ext cx="31089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4078224"/>
            <a:ext cx="45720" cy="68580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41513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F2D"/>
                </a:solidFill>
                <a:latin typeface="Calibri"/>
              </a:rPr>
              <a:t>Avg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513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5F2D"/>
                </a:solidFill>
                <a:latin typeface="Calibri"/>
              </a:rPr>
              <a:t>14.7%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15137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A85A"/>
                </a:solidFill>
                <a:latin typeface="Calibri"/>
              </a:rPr>
              <a:t>7.0%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151376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C374"/>
                </a:solidFill>
                <a:latin typeface="Calibri"/>
              </a:rPr>
              <a:t>+7.7pp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Recommendations &amp;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24128"/>
            <a:ext cx="777240" cy="292608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24128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9692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Renegotiate Menigo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950976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March +8% price increase adds ~15 000 kr/month. Request Q2 price freeze or trial Martin &amp; Servera for 30% of volume. Potential saving: 5 000–8 000 kr/month.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19072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65376"/>
            <a:ext cx="777240" cy="292608"/>
          </a:xfrm>
          <a:prstGeom prst="rect">
            <a:avLst/>
          </a:prstGeom>
          <a:solidFill>
            <a:srgbClr val="E24B4A"/>
          </a:solidFill>
          <a:ln>
            <a:solidFill>
              <a:srgbClr val="E24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65376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8105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Staffing schedule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92224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Overtime at 42 000 kr caused by sick-leave cover. Implement cross-training and on-call pool. Target: staff costs ≤40% of revenue.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60320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06624"/>
            <a:ext cx="777240" cy="292608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706624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Q2 budget revision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633472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Current Q2 budget assumes old cost levels. Revise food cost budget +8% and staff budget +5% based on March actuals.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01568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47872"/>
            <a:ext cx="777240" cy="292608"/>
          </a:xfrm>
          <a:prstGeom prst="rect">
            <a:avLst/>
          </a:prstGeom>
          <a:solidFill>
            <a:srgbClr val="FFC040"/>
          </a:solidFill>
          <a:ln>
            <a:solidFill>
              <a:srgbClr val="FF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547872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493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Cash flow buffer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474720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Bank statement shows negative intra-month balance around payroll (25th). Maintain ≥150 000 kr minimum working capital.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42816"/>
            <a:ext cx="84124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777240" cy="292608"/>
          </a:xfrm>
          <a:prstGeom prst="rect">
            <a:avLst/>
          </a:prstGeom>
          <a:solidFill>
            <a:srgbClr val="52C374"/>
          </a:solidFill>
          <a:ln>
            <a:solidFill>
              <a:srgbClr val="52C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389120"/>
            <a:ext cx="740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433425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POS data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315968"/>
            <a:ext cx="4572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Ancon POS Fortnox sync shows 3 uncategorised transactions. Clean up before Q2 to improve reporting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7BC62"/>
          </a:solidFill>
          <a:ln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7BC6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A85A"/>
                </a:solidFill>
                <a:latin typeface="Calibri"/>
              </a:rPr>
              <a:t>Restaurang Björken AB  ·  Mars 2026  ·  Konfidentiellt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