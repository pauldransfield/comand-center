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(kr)</c:v>
                </c:pt>
              </c:strCache>
            </c:strRef>
          </c:tx>
          <c:spPr>
            <a:solidFill>
              <a:srgbClr val="B85042"/>
            </a:solidFill>
          </c:spP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389200</c:v>
                </c:pt>
                <c:pt idx="1">
                  <c:v>461800</c:v>
                </c:pt>
                <c:pt idx="2">
                  <c:v>505900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(kr)</c:v>
                </c:pt>
              </c:strCache>
            </c:strRef>
          </c:tx>
          <c:spPr>
            <a:solidFill>
              <a:srgbClr val="A7BEAE"/>
            </a:solidFill>
          </c:spP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380000</c:v>
                </c:pt>
                <c:pt idx="1">
                  <c:v>460000</c:v>
                </c:pt>
                <c:pt idx="2">
                  <c:v>490000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Costs</c:v>
                </c:pt>
              </c:strCache>
            </c:strRef>
          </c:tx>
          <c:dPt>
            <c:idx val="0"/>
            <c:spPr>
              <a:solidFill>
                <a:srgbClr val="B85042"/>
              </a:solidFill>
            </c:spPr>
          </c:dPt>
          <c:dPt>
            <c:idx val="1"/>
            <c:spPr>
              <a:solidFill>
                <a:srgbClr val="4A7FC1"/>
              </a:solidFill>
            </c:spPr>
          </c:dPt>
          <c:dPt>
            <c:idx val="2"/>
            <c:spPr>
              <a:solidFill>
                <a:srgbClr val="FFC040"/>
              </a:solidFill>
            </c:spPr>
          </c:dPt>
          <c:dPt>
            <c:idx val="3"/>
            <c:spPr>
              <a:solidFill>
                <a:srgbClr val="8AA8D0"/>
              </a:solidFill>
            </c:spPr>
          </c:dPt>
          <c:cat>
            <c:strRef>
              <c:f>Sheet1!$A$2:$A$5</c:f>
              <c:strCache>
                <c:ptCount val="4"/>
                <c:pt idx="0">
                  <c:v>Personal</c:v>
                </c:pt>
                <c:pt idx="1">
                  <c:v>Råvaror &amp; Dryck</c:v>
                </c:pt>
                <c:pt idx="2">
                  <c:v>Lokal</c:v>
                </c:pt>
                <c:pt idx="3">
                  <c:v>Övrigt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224978</c:v>
                </c:pt>
                <c:pt idx="1">
                  <c:v>149300</c:v>
                </c:pt>
                <c:pt idx="2">
                  <c:v>64500</c:v>
                </c:pt>
                <c:pt idx="3">
                  <c:v>28422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(kr)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12100</c:v>
                </c:pt>
                <c:pt idx="1">
                  <c:v>38700</c:v>
                </c:pt>
                <c:pt idx="2">
                  <c:v>38700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(kr/10)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38920</c:v>
                </c:pt>
                <c:pt idx="1">
                  <c:v>46180</c:v>
                </c:pt>
                <c:pt idx="2">
                  <c:v>50590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 for Monthly Review.</a:t>
            </a:r>
          </a:p>
          <a:p/>
          <a:p>
            <a:r>
              <a:t>Welcome attendees. State the purpose: review Mars 2026 performance and agree on Q2 actions. Expected duration: 45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points:</a:t>
            </a:r>
          </a:p>
          <a:p>
            <a:r>
              <a:t>• Revenue growth is strong but costs are outpacing it</a:t>
            </a:r>
          </a:p>
          <a:p>
            <a:r>
              <a:t>• Staff cost overrun is the single biggest issue — driven by sick leave and overtime</a:t>
            </a:r>
          </a:p>
          <a:p>
            <a:r>
              <a:t>• Menigo price increase adds approximately 15 000 kr/month to food costs</a:t>
            </a:r>
          </a:p>
          <a:p>
            <a:r>
              <a:t>• Action needed: renegotiate Menigo, review staffing schedule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 composition:</a:t>
            </a:r>
          </a:p>
          <a:p>
            <a:r>
              <a:t>• Food sales: 312 500 kr (62%) — driven by higher covers</a:t>
            </a:r>
          </a:p>
          <a:p>
            <a:r>
              <a:t>• Beverage: 175 000 kr (35%) — champagne sales strong</a:t>
            </a:r>
          </a:p>
          <a:p>
            <a:r>
              <a:t>• Catering event: 18 400 kr (3.6%) — one corporate event</a:t>
            </a:r>
          </a:p>
          <a:p/>
          <a:p>
            <a:r>
              <a:t>Revenue vs budget: +3.2% over March budget of 490 000 kr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analysis:</a:t>
            </a:r>
          </a:p>
          <a:p>
            <a:r>
              <a:t>• Staff 61.5% — well above 40% target. Root cause: sick leave weeks 11-12 required 42 000 kr extra overtime</a:t>
            </a:r>
          </a:p>
          <a:p>
            <a:r>
              <a:t>• Food/Bev 29.5% — within target. Menigo +8% partially offset by menu repricing</a:t>
            </a:r>
          </a:p>
          <a:p>
            <a:r>
              <a:t>• Rent fixed at 52 000 kr/month. Total including utilities 64 500 kr (12.7%)</a:t>
            </a:r>
          </a:p>
          <a:p>
            <a:r>
              <a:t>• Action: Board to approve staffing schedule review and Menigo renegotiation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Trend analysis:</a:t>
            </a:r>
          </a:p>
          <a:p>
            <a:r>
              <a:t>• Jan was below budget (slow start to year)</a:t>
            </a:r>
          </a:p>
          <a:p>
            <a:r>
              <a:t>• Feb and March recovered strongly</a:t>
            </a:r>
          </a:p>
          <a:p>
            <a:r>
              <a:t>• Q1 total revenue 1 356 900 kr vs budget 1 350 000 kr — slightly ahead</a:t>
            </a:r>
          </a:p>
          <a:p>
            <a:r>
              <a:t>• Profitability hampered by cost escalation; Q2 focus must be cost discipline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 decisions required:</a:t>
            </a:r>
          </a:p>
          <a:p>
            <a:r>
              <a:t>1. Approve Menigo renegotiation mandate (owner to lead)</a:t>
            </a:r>
          </a:p>
          <a:p>
            <a:r>
              <a:t>2. Approve permanent kock recruitment budget</a:t>
            </a:r>
          </a:p>
          <a:p>
            <a:r>
              <a:t>3. Note Q2 budget revision (CFO/owner to update)</a:t>
            </a:r>
          </a:p>
          <a:p>
            <a:r>
              <a:t>4. Acknowledge cash flow monitoring requirement</a:t>
            </a:r>
          </a:p>
          <a:p/>
          <a:p>
            <a:r>
              <a:t>All HIGH items require owner action within 2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meeting by confirming:</a:t>
            </a:r>
          </a:p>
          <a:p>
            <a:r>
              <a:t>• Owner to schedule Menigo meeting this week</a:t>
            </a:r>
          </a:p>
          <a:p>
            <a:r>
              <a:t>• Next monthly review: first week of May</a:t>
            </a:r>
          </a:p>
          <a:p>
            <a:r>
              <a:t>• Interim check-in on staffing: April 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for questions.</a:t>
            </a:r>
          </a:p>
          <a:p/>
          <a:p>
            <a:r>
              <a:t>Key reminders for follow-up:</a:t>
            </a:r>
          </a:p>
          <a:p>
            <a:r>
              <a:t>• Send action list to all attendees within 24 hours</a:t>
            </a:r>
          </a:p>
          <a:p>
            <a:r>
              <a:t>• Next meeting: first week of May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BEAE"/>
          </a:solidFill>
          <a:ln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A7BEAE"/>
          </a:solidFill>
          <a:ln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2926080"/>
          </a:xfrm>
          <a:prstGeom prst="rect">
            <a:avLst/>
          </a:prstGeom>
          <a:solidFill>
            <a:srgbClr val="F5C518"/>
          </a:solidFill>
          <a:ln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  <a:latin typeface="Calibri"/>
              </a:rPr>
              <a:t>MONTHLY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Monthly Review — Mars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A7BEAE"/>
                </a:solidFill>
                <a:latin typeface="Calibri"/>
              </a:rPr>
              <a:t>Operations &amp; Financial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8A80"/>
                </a:solidFill>
                <a:latin typeface="Calibri"/>
              </a:rPr>
              <a:t>Restaurang Björken AB  ·  Mars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7BEAE"/>
                </a:solidFill>
                <a:latin typeface="Calibri"/>
              </a:rPr>
              <a:t>Mars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011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54864" cy="1005840"/>
          </a:xfrm>
          <a:prstGeom prst="rect">
            <a:avLst/>
          </a:prstGeom>
          <a:solidFill>
            <a:srgbClr val="A7BEAE"/>
          </a:solidFill>
          <a:ln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82880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A3228"/>
                </a:solidFill>
                <a:latin typeface="Calibri"/>
              </a:rPr>
              <a:t>505 900 kr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89227"/>
            <a:ext cx="1828800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A80"/>
                </a:solidFill>
                <a:latin typeface="Calibri"/>
              </a:rPr>
              <a:t>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005840"/>
            <a:ext cx="2011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68880" y="1005840"/>
            <a:ext cx="54864" cy="1005840"/>
          </a:xfrm>
          <a:prstGeom prst="rect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060704"/>
            <a:ext cx="182880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A3228"/>
                </a:solidFill>
                <a:latin typeface="Calibri"/>
              </a:rPr>
              <a:t>467 200 kr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589227"/>
            <a:ext cx="1828800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A80"/>
                </a:solidFill>
                <a:latin typeface="Calibri"/>
              </a:rPr>
              <a:t>Total Costs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005840"/>
            <a:ext cx="2011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1005840"/>
            <a:ext cx="54864" cy="1005840"/>
          </a:xfrm>
          <a:prstGeom prst="rect">
            <a:avLst/>
          </a:prstGeom>
          <a:solidFill>
            <a:srgbClr val="52C374"/>
          </a:solidFill>
          <a:ln>
            <a:solidFill>
              <a:srgbClr val="52C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060704"/>
            <a:ext cx="182880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A3228"/>
                </a:solidFill>
                <a:latin typeface="Calibri"/>
              </a:rPr>
              <a:t>38 700 kr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589227"/>
            <a:ext cx="1828800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A80"/>
                </a:solidFill>
                <a:latin typeface="Calibri"/>
              </a:rPr>
              <a:t>Net Profit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005840"/>
            <a:ext cx="2011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1005840"/>
            <a:ext cx="54864" cy="1005840"/>
          </a:xfrm>
          <a:prstGeom prst="rect">
            <a:avLst/>
          </a:prstGeom>
          <a:solidFill>
            <a:srgbClr val="52C374"/>
          </a:solidFill>
          <a:ln>
            <a:solidFill>
              <a:srgbClr val="52C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060704"/>
            <a:ext cx="182880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A3228"/>
                </a:solidFill>
                <a:latin typeface="Calibri"/>
              </a:rPr>
              <a:t>7.65%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589227"/>
            <a:ext cx="1828800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A80"/>
                </a:solidFill>
                <a:latin typeface="Calibri"/>
              </a:rPr>
              <a:t>Margin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194560"/>
            <a:ext cx="54864" cy="310896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176272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A2A"/>
                </a:solidFill>
                <a:latin typeface="Calibri"/>
              </a:rPr>
              <a:t>Revenue 505 900 kr — up 9.5% vs February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24912"/>
            <a:ext cx="54864" cy="310896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706624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A2A"/>
                </a:solidFill>
                <a:latin typeface="Calibri"/>
              </a:rPr>
              <a:t>Staff costs at 44.5% of revenue — above 40% target; high sick leave in weeks 11–12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55263"/>
            <a:ext cx="54864" cy="310896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236976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A2A"/>
                </a:solidFill>
                <a:latin typeface="Calibri"/>
              </a:rPr>
              <a:t>Food &amp; Bev costs 29.5% — Menigo price increase +8% from March 1st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785615"/>
            <a:ext cx="54864" cy="310896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767327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A2A"/>
                </a:solidFill>
                <a:latin typeface="Calibri"/>
              </a:rPr>
              <a:t>Net profit 38 700 kr at 7.7% margin — pressured by cost increases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315968"/>
            <a:ext cx="54864" cy="310896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297679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A2A"/>
                </a:solidFill>
                <a:latin typeface="Calibri"/>
              </a:rPr>
              <a:t>Q1 2026 revenue forecast exceeds budget by +6 900 kr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Revenue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005840"/>
          <a:ext cx="530352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1005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3228"/>
                </a:solidFill>
                <a:latin typeface="Calibri"/>
              </a:rPr>
              <a:t>Revenue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508760"/>
            <a:ext cx="2926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508760"/>
            <a:ext cx="54864" cy="914400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581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3228"/>
                </a:solidFill>
                <a:latin typeface="Calibri"/>
              </a:rPr>
              <a:t>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89280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85042"/>
                </a:solidFill>
                <a:latin typeface="Calibri"/>
              </a:rPr>
              <a:t>61.8%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89280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88A80"/>
                </a:solidFill>
                <a:latin typeface="Calibri"/>
              </a:rPr>
              <a:t>312 500 kr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587752"/>
            <a:ext cx="2926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2587752"/>
            <a:ext cx="54864" cy="914400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6609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3228"/>
                </a:solidFill>
                <a:latin typeface="Calibri"/>
              </a:rPr>
              <a:t>Dryck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971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85042"/>
                </a:solidFill>
                <a:latin typeface="Calibri"/>
              </a:rPr>
              <a:t>34.6%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971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88A80"/>
                </a:solidFill>
                <a:latin typeface="Calibri"/>
              </a:rPr>
              <a:t>175 000 kr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666744"/>
            <a:ext cx="2926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3666744"/>
            <a:ext cx="54864" cy="914400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7398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3228"/>
                </a:solidFill>
                <a:latin typeface="Calibri"/>
              </a:rPr>
              <a:t>Catering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05079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85042"/>
                </a:solidFill>
                <a:latin typeface="Calibri"/>
              </a:rPr>
              <a:t>3.6%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050791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88A80"/>
                </a:solidFill>
                <a:latin typeface="Calibri"/>
              </a:rPr>
              <a:t>18 400 kr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Cost Breakdown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914400"/>
          <a:ext cx="47548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94960" y="9601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8A80"/>
                </a:solidFill>
                <a:latin typeface="Calibri"/>
              </a:rPr>
              <a:t>vs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371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3228"/>
                </a:solidFill>
                <a:latin typeface="Calibri"/>
              </a:rPr>
              <a:t>Personal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8A80"/>
                </a:solidFill>
                <a:latin typeface="Calibri"/>
              </a:rPr>
              <a:t>44.5%  (target 40.0%)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719072"/>
            <a:ext cx="3566160" cy="16459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0" y="1719072"/>
            <a:ext cx="2267058" cy="164592"/>
          </a:xfrm>
          <a:prstGeom prst="rect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49885" y="1664208"/>
            <a:ext cx="36576" cy="274320"/>
          </a:xfrm>
          <a:prstGeom prst="rect">
            <a:avLst/>
          </a:prstGeom>
          <a:solidFill>
            <a:srgbClr val="60606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92024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A80"/>
                </a:solidFill>
                <a:latin typeface="Calibri"/>
              </a:rPr>
              <a:t>224 978 kr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2585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3228"/>
                </a:solidFill>
                <a:latin typeface="Calibri"/>
              </a:rPr>
              <a:t>Råvaror &amp; dryck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58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8A80"/>
                </a:solidFill>
                <a:latin typeface="Calibri"/>
              </a:rPr>
              <a:t>29.5%  (target 31.0%)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2606039"/>
            <a:ext cx="3566160" cy="16459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0" y="2606039"/>
            <a:ext cx="1502881" cy="164592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91379" y="2551175"/>
            <a:ext cx="36576" cy="274320"/>
          </a:xfrm>
          <a:prstGeom prst="rect">
            <a:avLst/>
          </a:prstGeom>
          <a:solidFill>
            <a:srgbClr val="60606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80720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A80"/>
                </a:solidFill>
                <a:latin typeface="Calibri"/>
              </a:rPr>
              <a:t>149 300 kr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1455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3228"/>
                </a:solidFill>
                <a:latin typeface="Calibri"/>
              </a:rPr>
              <a:t>Lokal &amp; fastighet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14553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8A80"/>
                </a:solidFill>
                <a:latin typeface="Calibri"/>
              </a:rPr>
              <a:t>12.7%  (target 13.0%)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3493008"/>
            <a:ext cx="3566160" cy="16459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2080" y="3493008"/>
            <a:ext cx="647003" cy="164592"/>
          </a:xfrm>
          <a:prstGeom prst="rect">
            <a:avLst/>
          </a:prstGeom>
          <a:solidFill>
            <a:srgbClr val="4A7FC1"/>
          </a:solidFill>
          <a:ln>
            <a:solidFill>
              <a:srgbClr val="4A7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74366" y="3438144"/>
            <a:ext cx="36576" cy="274320"/>
          </a:xfrm>
          <a:prstGeom prst="rect">
            <a:avLst/>
          </a:prstGeom>
          <a:solidFill>
            <a:srgbClr val="60606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69417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A80"/>
                </a:solidFill>
                <a:latin typeface="Calibri"/>
              </a:rPr>
              <a:t>64 500 kr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3250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3228"/>
                </a:solidFill>
                <a:latin typeface="Calibri"/>
              </a:rPr>
              <a:t>Övrigt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0325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8A80"/>
                </a:solidFill>
                <a:latin typeface="Calibri"/>
              </a:rPr>
              <a:t>5.6%  (target 6.0%)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4379976"/>
            <a:ext cx="3566160" cy="16459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12080" y="4379976"/>
            <a:ext cx="285292" cy="164592"/>
          </a:xfrm>
          <a:prstGeom prst="rect">
            <a:avLst/>
          </a:prstGeom>
          <a:solidFill>
            <a:srgbClr val="8AA8D0"/>
          </a:solidFill>
          <a:ln>
            <a:solidFill>
              <a:srgbClr val="8AA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17750" y="4325112"/>
            <a:ext cx="36576" cy="274320"/>
          </a:xfrm>
          <a:prstGeom prst="rect">
            <a:avLst/>
          </a:prstGeom>
          <a:solidFill>
            <a:srgbClr val="60606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0" y="458114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A80"/>
                </a:solidFill>
                <a:latin typeface="Calibri"/>
              </a:rPr>
              <a:t>28 422 kr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7315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Profit Trend &amp; Q1 Performance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005840"/>
          <a:ext cx="53035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60720" y="1005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3228"/>
                </a:solidFill>
                <a:latin typeface="Calibri"/>
              </a:rPr>
              <a:t>Q1 Actuals vs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371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A80"/>
                </a:solidFill>
                <a:latin typeface="Calibri"/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371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A80"/>
                </a:solidFill>
                <a:latin typeface="Calibri"/>
              </a:rPr>
              <a:t>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71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A80"/>
                </a:solidFill>
                <a:latin typeface="Calibri"/>
              </a:rPr>
              <a:t>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371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A80"/>
                </a:solidFill>
                <a:latin typeface="Calibri"/>
              </a:rPr>
              <a:t>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691640"/>
            <a:ext cx="31089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1691640"/>
            <a:ext cx="45720" cy="685800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17647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3228"/>
                </a:solidFill>
                <a:latin typeface="Calibri"/>
              </a:rPr>
              <a:t>Q1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76479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3228"/>
                </a:solidFill>
                <a:latin typeface="Calibri"/>
              </a:rPr>
              <a:t>1 356 900 kr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6479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A80"/>
                </a:solidFill>
                <a:latin typeface="Calibri"/>
              </a:rPr>
              <a:t>1 350 000 kr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76479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C374"/>
                </a:solidFill>
                <a:latin typeface="Calibri"/>
              </a:rPr>
              <a:t>+0.5%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2487168"/>
            <a:ext cx="31089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2487168"/>
            <a:ext cx="45720" cy="685800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0448" y="25603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3228"/>
                </a:solidFill>
                <a:latin typeface="Calibri"/>
              </a:rPr>
              <a:t>Q1 Costs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56032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3228"/>
                </a:solidFill>
                <a:latin typeface="Calibri"/>
              </a:rPr>
              <a:t>1 157 400 kr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5603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A80"/>
                </a:solidFill>
                <a:latin typeface="Calibri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5603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4B4A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3282696"/>
            <a:ext cx="31089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60720" y="3282696"/>
            <a:ext cx="45720" cy="685800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0448" y="33558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3228"/>
                </a:solidFill>
                <a:latin typeface="Calibri"/>
              </a:rPr>
              <a:t>Q1 Profit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35584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3228"/>
                </a:solidFill>
                <a:latin typeface="Calibri"/>
              </a:rPr>
              <a:t>199 500 kr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35584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A80"/>
                </a:solidFill>
                <a:latin typeface="Calibri"/>
              </a:rPr>
              <a:t>94 500 kr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35584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C374"/>
                </a:solidFill>
                <a:latin typeface="Calibri"/>
              </a:rPr>
              <a:t>+111%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4078224"/>
            <a:ext cx="31089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4078224"/>
            <a:ext cx="45720" cy="685800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0448" y="41513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3228"/>
                </a:solidFill>
                <a:latin typeface="Calibri"/>
              </a:rPr>
              <a:t>Avg Margin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15137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3228"/>
                </a:solidFill>
                <a:latin typeface="Calibri"/>
              </a:rPr>
              <a:t>14.7%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151376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8A80"/>
                </a:solidFill>
                <a:latin typeface="Calibri"/>
              </a:rPr>
              <a:t>7.0%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15137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C374"/>
                </a:solidFill>
                <a:latin typeface="Calibri"/>
              </a:rPr>
              <a:t>+7.7pp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Recommendations &amp;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777240" cy="292608"/>
          </a:xfrm>
          <a:prstGeom prst="rect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24128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9692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3228"/>
                </a:solidFill>
                <a:latin typeface="Calibri"/>
              </a:rPr>
              <a:t>Renegotiate Menigo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950976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March +8% price increase adds ~15 000 kr/month. Request Q2 price freeze or trial Martin &amp; Servera for 30% of volume. Potential saving: 5 000–8 000 kr/month.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19072"/>
            <a:ext cx="8412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65376"/>
            <a:ext cx="777240" cy="292608"/>
          </a:xfrm>
          <a:prstGeom prst="rect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865376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18105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3228"/>
                </a:solidFill>
                <a:latin typeface="Calibri"/>
              </a:rPr>
              <a:t>Staffing schedule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92224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Overtime at 42 000 kr caused by sick-leave cover. Implement cross-training and on-call pool. Target: staff costs ≤40% of revenue.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60320"/>
            <a:ext cx="8412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706624"/>
            <a:ext cx="777240" cy="292608"/>
          </a:xfrm>
          <a:prstGeom prst="rect">
            <a:avLst/>
          </a:prstGeom>
          <a:solidFill>
            <a:srgbClr val="FFC040"/>
          </a:solidFill>
          <a:ln>
            <a:solidFill>
              <a:srgbClr val="FF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706624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6517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3228"/>
                </a:solidFill>
                <a:latin typeface="Calibri"/>
              </a:rPr>
              <a:t>Q2 budget revision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633472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Current Q2 budget assumes old cost levels. Revise food cost budget +8% and staff budget +5% based on March actuals.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01568"/>
            <a:ext cx="8412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47872"/>
            <a:ext cx="777240" cy="292608"/>
          </a:xfrm>
          <a:prstGeom prst="rect">
            <a:avLst/>
          </a:prstGeom>
          <a:solidFill>
            <a:srgbClr val="FFC040"/>
          </a:solidFill>
          <a:ln>
            <a:solidFill>
              <a:srgbClr val="FF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547872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4930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3228"/>
                </a:solidFill>
                <a:latin typeface="Calibri"/>
              </a:rPr>
              <a:t>Cash flow buffer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474720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Bank statement shows negative intra-month balance around payroll (25th). Maintain ≥150 000 kr minimum working capital.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42816"/>
            <a:ext cx="8412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389120"/>
            <a:ext cx="777240" cy="292608"/>
          </a:xfrm>
          <a:prstGeom prst="rect">
            <a:avLst/>
          </a:prstGeom>
          <a:solidFill>
            <a:srgbClr val="52C374"/>
          </a:solidFill>
          <a:ln>
            <a:solidFill>
              <a:srgbClr val="52C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389120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4334255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3228"/>
                </a:solidFill>
                <a:latin typeface="Calibri"/>
              </a:rPr>
              <a:t>POS data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315968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Ancon POS Fortnox sync shows 3 uncategorised transactions. Clean up before Q2 to improve reporting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A80"/>
                </a:solidFill>
                <a:latin typeface="Calibri"/>
              </a:rPr>
              <a:t>WHEN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914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A80"/>
                </a:solidFill>
                <a:latin typeface="Calibri"/>
              </a:rPr>
              <a:t>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914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A80"/>
                </a:solidFill>
                <a:latin typeface="Calibri"/>
              </a:rPr>
              <a:t>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84124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08176"/>
            <a:ext cx="1051560" cy="274320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408176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0817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  <a:latin typeface="Calibri"/>
              </a:rPr>
              <a:t>Contact Menigo for pricing meeting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4081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8A80"/>
                </a:solidFill>
                <a:latin typeface="Calibri"/>
              </a:rPr>
              <a:t>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92807"/>
            <a:ext cx="8412480" cy="54864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2020824"/>
            <a:ext cx="1051560" cy="274320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2020824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02082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  <a:latin typeface="Calibri"/>
              </a:rPr>
              <a:t>Pull overtime data — weeks 11–12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0208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8A80"/>
                </a:solidFill>
                <a:latin typeface="Calibri"/>
              </a:rPr>
              <a:t>Köksmästare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05456"/>
            <a:ext cx="84124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2633472"/>
            <a:ext cx="1051560" cy="274320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2633472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26334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  <a:latin typeface="Calibri"/>
              </a:rPr>
              <a:t>Rebuild staffing schedule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6334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8A80"/>
                </a:solidFill>
                <a:latin typeface="Calibri"/>
              </a:rPr>
              <a:t>Owner + Köksmästare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18104"/>
            <a:ext cx="8412480" cy="54864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46120"/>
            <a:ext cx="1051560" cy="274320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3246120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24612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  <a:latin typeface="Calibri"/>
              </a:rPr>
              <a:t>Revise Q2 budget figures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2461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8A80"/>
                </a:solidFill>
                <a:latin typeface="Calibri"/>
              </a:rPr>
              <a:t>Owner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730752"/>
            <a:ext cx="84124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3858768"/>
            <a:ext cx="1051560" cy="274320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" y="3858768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Month 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385876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  <a:latin typeface="Calibri"/>
              </a:rPr>
              <a:t>Verify Ancon–Fortnox sync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8587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8A80"/>
                </a:solidFill>
                <a:latin typeface="Calibri"/>
              </a:rPr>
              <a:t>Admin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" y="4471416"/>
            <a:ext cx="1051560" cy="274320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" y="4471416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44714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  <a:latin typeface="Calibri"/>
              </a:rPr>
              <a:t>Launch permanent kock recruitment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4714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8A80"/>
                </a:solidFill>
                <a:latin typeface="Calibri"/>
              </a:rPr>
              <a:t>Owner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3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BEAE"/>
          </a:solidFill>
          <a:ln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A7BEAE"/>
          </a:solidFill>
          <a:ln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7BEAE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8A80"/>
                </a:solidFill>
                <a:latin typeface="Calibri"/>
              </a:rPr>
              <a:t>Restaurang Björken AB  ·  Mars 2026  ·  Konfidentiellt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